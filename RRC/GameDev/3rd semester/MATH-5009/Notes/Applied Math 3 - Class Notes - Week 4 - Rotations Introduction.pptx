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  <p:sldMasterId id="2147483687" r:id="rId2"/>
    <p:sldMasterId id="2147483669" r:id="rId3"/>
  </p:sldMasterIdLst>
  <p:sldIdLst>
    <p:sldId id="298" r:id="rId4"/>
    <p:sldId id="274" r:id="rId5"/>
    <p:sldId id="276" r:id="rId6"/>
    <p:sldId id="282" r:id="rId7"/>
    <p:sldId id="277" r:id="rId8"/>
    <p:sldId id="278" r:id="rId9"/>
    <p:sldId id="279" r:id="rId10"/>
    <p:sldId id="280" r:id="rId11"/>
    <p:sldId id="283" r:id="rId12"/>
    <p:sldId id="285" r:id="rId13"/>
    <p:sldId id="288" r:id="rId14"/>
    <p:sldId id="287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86" r:id="rId23"/>
    <p:sldId id="296" r:id="rId24"/>
    <p:sldId id="297" r:id="rId25"/>
    <p:sldId id="281" r:id="rId26"/>
    <p:sldId id="29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34933D-7BBE-4344-BD9B-461FA4976957}">
          <p14:sldIdLst>
            <p14:sldId id="298"/>
          </p14:sldIdLst>
        </p14:section>
        <p14:section name="Theory and Data types" id="{ECC3D686-2CE8-4778-860C-BFF6D3A10C1A}">
          <p14:sldIdLst>
            <p14:sldId id="274"/>
            <p14:sldId id="276"/>
            <p14:sldId id="282"/>
            <p14:sldId id="277"/>
            <p14:sldId id="278"/>
            <p14:sldId id="279"/>
            <p14:sldId id="280"/>
            <p14:sldId id="283"/>
          </p14:sldIdLst>
        </p14:section>
        <p14:section name="Rotation Experiments" id="{C7656D83-B89F-40E5-8930-06D3B6BEC917}">
          <p14:sldIdLst>
            <p14:sldId id="285"/>
            <p14:sldId id="288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Vector components of a Rotation" id="{364C5CD1-DBE4-4052-B7D7-FEBCF06839D3}">
          <p14:sldIdLst>
            <p14:sldId id="286"/>
            <p14:sldId id="296"/>
            <p14:sldId id="297"/>
            <p14:sldId id="281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1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2T03:06:3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2T03:06:43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2T03:06:4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2T03:06:4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2T03:06:5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2T03:06:5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3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ctr">
            <a:normAutofit/>
          </a:bodyPr>
          <a:lstStyle>
            <a:lvl1pPr>
              <a:defRPr sz="2400" cap="none" baseline="0"/>
            </a:lvl1pPr>
            <a:lvl2pPr>
              <a:defRPr sz="2000" cap="none" baseline="0"/>
            </a:lvl2pPr>
            <a:lvl3pPr>
              <a:defRPr sz="1800" cap="none" baseline="0"/>
            </a:lvl3pPr>
            <a:lvl4pPr>
              <a:defRPr sz="1600" cap="none" baseline="0"/>
            </a:lvl4pPr>
            <a:lvl5pPr>
              <a:defRPr sz="1600"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7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9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9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5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5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7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75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9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55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462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13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39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9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23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67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53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ctr">
            <a:normAutofit/>
          </a:bodyPr>
          <a:lstStyle>
            <a:lvl1pPr>
              <a:defRPr sz="2400" cap="none" baseline="0"/>
            </a:lvl1pPr>
            <a:lvl2pPr>
              <a:defRPr sz="2000" cap="none" baseline="0"/>
            </a:lvl2pPr>
            <a:lvl3pPr>
              <a:defRPr sz="1800" cap="none" baseline="0"/>
            </a:lvl3pPr>
            <a:lvl4pPr>
              <a:defRPr sz="1600" cap="none" baseline="0"/>
            </a:lvl4pPr>
            <a:lvl5pPr>
              <a:defRPr sz="1600"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788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521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083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37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398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346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889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360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5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760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546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102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35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499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4118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6228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8353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ctr">
            <a:normAutofit/>
          </a:bodyPr>
          <a:lstStyle>
            <a:lvl1pPr>
              <a:defRPr sz="2400" cap="none" baseline="0"/>
            </a:lvl1pPr>
            <a:lvl2pPr>
              <a:defRPr sz="2000" cap="none" baseline="0"/>
            </a:lvl2pPr>
            <a:lvl3pPr>
              <a:defRPr sz="1800" cap="none" baseline="0"/>
            </a:lvl3pPr>
            <a:lvl4pPr>
              <a:defRPr sz="1600" cap="none" baseline="0"/>
            </a:lvl4pPr>
            <a:lvl5pPr>
              <a:defRPr sz="1600"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7808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011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273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610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961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3018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65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1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4884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077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1377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336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360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4214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247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672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045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4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870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4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043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4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realengine.com/4.26/en-US/BuildingWorlds/LevelEditor/Details/Properties/VectorAndRotator/" TargetMode="External"/><Relationship Id="rId2" Type="http://schemas.openxmlformats.org/officeDocument/2006/relationships/hyperlink" Target="https://docs.unrealengine.com/4.27/en-US/BlueprintAPI/Math/Rotato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6.png"/><Relationship Id="rId9" Type="http://schemas.openxmlformats.org/officeDocument/2006/relationships/customXml" Target="../ink/ink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2770-B47E-44FF-AB53-4AD147479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968" y="609601"/>
            <a:ext cx="9826752" cy="32004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2800" dirty="0"/>
              <a:t>Applied Math 3 </a:t>
            </a:r>
            <a:br>
              <a:rPr lang="en-CA" sz="2800" dirty="0"/>
            </a:br>
            <a:r>
              <a:rPr lang="en-CA" sz="2800" dirty="0"/>
              <a:t>Week 4</a:t>
            </a:r>
            <a:br>
              <a:rPr lang="en-CA" sz="2800" dirty="0"/>
            </a:br>
            <a:r>
              <a:rPr lang="en-CA" dirty="0"/>
              <a:t>Rotation “Fun”-</a:t>
            </a:r>
            <a:r>
              <a:rPr lang="en-CA" dirty="0" err="1"/>
              <a:t>Damentals</a:t>
            </a:r>
            <a:r>
              <a:rPr lang="en-CA" dirty="0"/>
              <a:t> I*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87DBA-619B-4510-9C16-28DF66FDE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en-CA" dirty="0"/>
              <a:t>* Not guaranteed to be fun</a:t>
            </a:r>
          </a:p>
        </p:txBody>
      </p:sp>
    </p:spTree>
    <p:extLst>
      <p:ext uri="{BB962C8B-B14F-4D97-AF65-F5344CB8AC3E}">
        <p14:creationId xmlns:p14="http://schemas.microsoft.com/office/powerpoint/2010/main" val="171385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Add a couple more examples here.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/>
          <a:lstStyle/>
          <a:p>
            <a:r>
              <a:rPr lang="en-CA" dirty="0"/>
              <a:t>Dealing with rotations in Unreal can be tricky. </a:t>
            </a:r>
          </a:p>
          <a:p>
            <a:r>
              <a:rPr lang="en-CA" dirty="0"/>
              <a:t>You will encounter rotation problems constantly however so it is important to understand the tools you have to work with them. </a:t>
            </a:r>
          </a:p>
          <a:p>
            <a:r>
              <a:rPr lang="en-CA" dirty="0"/>
              <a:t>Just like vector math is critical to moving objects, understanding trigonometry is important for rotation of objects. </a:t>
            </a:r>
          </a:p>
        </p:txBody>
      </p:sp>
    </p:spTree>
    <p:extLst>
      <p:ext uri="{BB962C8B-B14F-4D97-AF65-F5344CB8AC3E}">
        <p14:creationId xmlns:p14="http://schemas.microsoft.com/office/powerpoint/2010/main" val="3053053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Unreal Rotators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/>
          <a:lstStyle/>
          <a:p>
            <a:r>
              <a:rPr lang="en-CA" dirty="0"/>
              <a:t>The Rotator object defines a single rotation in 3D space. </a:t>
            </a:r>
          </a:p>
          <a:p>
            <a:r>
              <a:rPr lang="en-CA" dirty="0"/>
              <a:t>The rotation data in a Transform is a Rotator for example. </a:t>
            </a:r>
          </a:p>
          <a:p>
            <a:r>
              <a:rPr lang="en-CA" dirty="0"/>
              <a:t>You can also create Rotator objects by defining their 3 axes of rotation individually. 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769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Unreal Rotators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 fontScale="92500" lnSpcReduction="10000"/>
          </a:bodyPr>
          <a:lstStyle/>
          <a:p>
            <a:r>
              <a:rPr lang="en-CA" dirty="0"/>
              <a:t>Dealing with rotations in Unreal can be tricky, particularly because the documentation is terrible. </a:t>
            </a:r>
          </a:p>
          <a:p>
            <a:r>
              <a:rPr lang="en-CA" dirty="0"/>
              <a:t>There is an extensive description of a Rotator in the Unreal documentation. It reads: </a:t>
            </a:r>
          </a:p>
          <a:p>
            <a:pPr lvl="1"/>
            <a:r>
              <a:rPr lang="en-CA" dirty="0"/>
              <a:t>“Rotator”</a:t>
            </a:r>
          </a:p>
          <a:p>
            <a:pPr lvl="1"/>
            <a:r>
              <a:rPr lang="en-CA" dirty="0"/>
              <a:t>Yes, that’s it. Document your code kids. (Does include methods though)</a:t>
            </a:r>
          </a:p>
          <a:p>
            <a:pPr lvl="1"/>
            <a:r>
              <a:rPr lang="en-CA" dirty="0">
                <a:hlinkClick r:id="rId2"/>
              </a:rPr>
              <a:t>https://docs.unrealengine.com/4.27/en-US/BlueprintAPI/Math/Rotator/</a:t>
            </a:r>
            <a:endParaRPr lang="en-CA" dirty="0"/>
          </a:p>
          <a:p>
            <a:pPr lvl="1"/>
            <a:r>
              <a:rPr lang="en-CA" dirty="0"/>
              <a:t>Some actual docs here: </a:t>
            </a:r>
          </a:p>
          <a:p>
            <a:pPr lvl="1"/>
            <a:r>
              <a:rPr lang="en-CA" dirty="0">
                <a:hlinkClick r:id="rId3"/>
              </a:rPr>
              <a:t>https://docs.unrealengine.com/4.26/en-US/BuildingWorlds/LevelEditor/Details/Properties/VectorAndRotator/</a:t>
            </a:r>
            <a:endParaRPr lang="en-CA" dirty="0"/>
          </a:p>
          <a:p>
            <a:pPr marL="457200" lvl="1" indent="0">
              <a:buNone/>
            </a:pP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70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Euler Angles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962300"/>
          </a:xfrm>
        </p:spPr>
        <p:txBody>
          <a:bodyPr anchor="t">
            <a:normAutofit lnSpcReduction="10000"/>
          </a:bodyPr>
          <a:lstStyle/>
          <a:p>
            <a:r>
              <a:rPr lang="en-CA" dirty="0"/>
              <a:t>A Rotation object in Unreal is a struct (data structure) that stores rotation data. </a:t>
            </a:r>
          </a:p>
          <a:p>
            <a:r>
              <a:rPr lang="en-CA" dirty="0"/>
              <a:t>On the surface (</a:t>
            </a:r>
            <a:r>
              <a:rPr lang="en-CA" dirty="0" err="1"/>
              <a:t>ie</a:t>
            </a:r>
            <a:r>
              <a:rPr lang="en-CA" dirty="0"/>
              <a:t> in blueprint, in transforms) a Rotation is stored using a 3D Vector of </a:t>
            </a:r>
            <a:r>
              <a:rPr lang="en-CA" dirty="0" err="1"/>
              <a:t>Eular</a:t>
            </a:r>
            <a:r>
              <a:rPr lang="en-CA" dirty="0"/>
              <a:t> angles. These are the typical angle measurements you have seen in trigonometry problems before. </a:t>
            </a:r>
          </a:p>
          <a:p>
            <a:r>
              <a:rPr lang="en-CA" dirty="0" err="1"/>
              <a:t>Eulers</a:t>
            </a:r>
            <a:r>
              <a:rPr lang="en-CA" dirty="0"/>
              <a:t> are the familiar X, Y, Z angles stored in degrees and have a range from (0*, 360*). If you enter an angle greater or less then this range, it will get mapped to the angle within the range (it wraps around basically). </a:t>
            </a:r>
          </a:p>
          <a:p>
            <a:r>
              <a:rPr lang="en-CA" dirty="0"/>
              <a:t>For example 720* is the same value as 360*, or 540* is the same as 180*. </a:t>
            </a:r>
          </a:p>
          <a:p>
            <a:pPr lvl="1"/>
            <a:r>
              <a:rPr lang="en-CA" dirty="0"/>
              <a:t>*This can cause issues when you are rotating from a Rotation to another, as it may “wrap” the wrong way.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4463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Euler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 lnSpcReduction="10000"/>
          </a:bodyPr>
          <a:lstStyle/>
          <a:p>
            <a:pPr lvl="1"/>
            <a:r>
              <a:rPr lang="en-CA" dirty="0"/>
              <a:t>Euler Rotation Format stores the rotation as 3 Euler angles.  </a:t>
            </a:r>
          </a:p>
          <a:p>
            <a:pPr lvl="1"/>
            <a:r>
              <a:rPr lang="en-CA" dirty="0"/>
              <a:t>Stored as three separate rotation values, one for each axis (X, Y, Z). </a:t>
            </a:r>
          </a:p>
          <a:p>
            <a:pPr lvl="1"/>
            <a:r>
              <a:rPr lang="en-CA" dirty="0"/>
              <a:t>Recall: When moving (in Unreal, in 3D): </a:t>
            </a:r>
          </a:p>
          <a:p>
            <a:pPr lvl="2"/>
            <a:r>
              <a:rPr lang="en-CA" dirty="0"/>
              <a:t>X Axis represents Forward</a:t>
            </a:r>
          </a:p>
          <a:p>
            <a:pPr lvl="2"/>
            <a:r>
              <a:rPr lang="en-CA" dirty="0"/>
              <a:t>Y Axis represents Right</a:t>
            </a:r>
          </a:p>
          <a:p>
            <a:pPr lvl="2"/>
            <a:r>
              <a:rPr lang="en-CA" dirty="0"/>
              <a:t>Z Axis represents Up</a:t>
            </a:r>
          </a:p>
          <a:p>
            <a:pPr lvl="1"/>
            <a:r>
              <a:rPr lang="en-CA" dirty="0"/>
              <a:t>The rotation axes rotate</a:t>
            </a:r>
            <a:r>
              <a:rPr lang="en-CA" u="sng" dirty="0"/>
              <a:t> around</a:t>
            </a:r>
            <a:r>
              <a:rPr lang="en-CA" dirty="0"/>
              <a:t> the same axis the movement occurs in. </a:t>
            </a:r>
          </a:p>
          <a:p>
            <a:pPr lvl="2"/>
            <a:r>
              <a:rPr lang="en-CA" dirty="0"/>
              <a:t>X Axis Rotation represents Roll (Tilt your head from side to side)</a:t>
            </a:r>
          </a:p>
          <a:p>
            <a:pPr lvl="2"/>
            <a:r>
              <a:rPr lang="en-CA" dirty="0"/>
              <a:t>Y Axis rotation represents Pitch (Nod your head)</a:t>
            </a:r>
          </a:p>
          <a:p>
            <a:pPr lvl="2"/>
            <a:r>
              <a:rPr lang="en-CA" dirty="0"/>
              <a:t>Z Axis rotation represents Yaw (Turn your head to look left and right) 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7410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86203-ADFC-4C87-AC84-6E4D84B9D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1402" y="1781212"/>
            <a:ext cx="4117189" cy="307306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91C83F-BA4F-4E4C-AD65-94C5065D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44" y="1786793"/>
            <a:ext cx="397247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4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86203-ADFC-4C87-AC84-6E4D84B9D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1363" y="4412149"/>
            <a:ext cx="2125966" cy="15868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91C83F-BA4F-4E4C-AD65-94C5065D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329" y="4412149"/>
            <a:ext cx="2054977" cy="15868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0DE447-5BFF-4C6E-99EC-D75F16BE4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986" y="2748855"/>
            <a:ext cx="3191320" cy="164805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433A42-ED99-4408-9575-5425D8ED7DA6}"/>
              </a:ext>
            </a:extLst>
          </p:cNvPr>
          <p:cNvSpPr txBox="1">
            <a:spLocks/>
          </p:cNvSpPr>
          <p:nvPr/>
        </p:nvSpPr>
        <p:spPr>
          <a:xfrm>
            <a:off x="1141413" y="1693333"/>
            <a:ext cx="9905998" cy="409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24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20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8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CA" dirty="0"/>
              <a:t>If you imagine facing in the direction of a given movement axis, a positive rotation in that axis will rotate it clockwise by degrees. A negative rotation in that axis will rotate counter-clockwise. 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931BFA-FC27-41BF-8D5F-9B47A9BFB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17" y="2969592"/>
            <a:ext cx="3801005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9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We can also convert the Rotation object to a series of Vectors that represent the amount of each direction that is used. 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664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C14D3BE-EC77-4D03-B9B1-732588B1E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68" y="1693333"/>
            <a:ext cx="11679936" cy="4731927"/>
          </a:xfrm>
        </p:spPr>
      </p:pic>
    </p:spTree>
    <p:extLst>
      <p:ext uri="{BB962C8B-B14F-4D97-AF65-F5344CB8AC3E}">
        <p14:creationId xmlns:p14="http://schemas.microsoft.com/office/powerpoint/2010/main" val="278957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The output we get from the previous slide is interesting. Here are some examples of different input values. </a:t>
            </a:r>
          </a:p>
          <a:p>
            <a:r>
              <a:rPr lang="en-CA" dirty="0"/>
              <a:t>The X,Y,Z input is expressed in Degrees, as an angle. </a:t>
            </a:r>
          </a:p>
          <a:p>
            <a:r>
              <a:rPr lang="en-CA" dirty="0"/>
              <a:t>In this first example, the Vectors produced are unit vectors that point in the X, Y and Z direction.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D2FA0-D519-459A-B64B-B0960358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" y="4511040"/>
            <a:ext cx="12184809" cy="36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55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The second example is similar, except the Y vector now points in the –Z direction, and the Z points in the Y direction. This is due to it being rotated by 90*. The X Vector is unchanged because we are rotating our rotator AROUND the X axis.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D2FA0-D519-459A-B64B-B0960358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" y="4511040"/>
            <a:ext cx="12184809" cy="368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BB64E-F0AE-46ED-A3D8-FD1ED643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" y="5193114"/>
            <a:ext cx="12206279" cy="29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77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The third example is the most interesting. Where have you seen the number 0.707 expressed before?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D2FA0-D519-459A-B64B-B0960358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" y="4511040"/>
            <a:ext cx="12184809" cy="368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BB64E-F0AE-46ED-A3D8-FD1ED643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" y="5193114"/>
            <a:ext cx="12206279" cy="293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292C2C-3E65-4BE1-A6C2-4A7015AA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46" y="5820848"/>
            <a:ext cx="12238115" cy="28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The third example is the most interesting. Where have you seen the number 0.707 expressed before? </a:t>
            </a:r>
          </a:p>
          <a:p>
            <a:pPr lvl="1"/>
            <a:r>
              <a:rPr lang="en-CA" dirty="0"/>
              <a:t>(Hint: In Trigonometry)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D2FA0-D519-459A-B64B-B0960358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" y="4511040"/>
            <a:ext cx="12184809" cy="368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BB64E-F0AE-46ED-A3D8-FD1ED643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" y="5193114"/>
            <a:ext cx="12206279" cy="293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292C2C-3E65-4BE1-A6C2-4A7015AA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46" y="5820848"/>
            <a:ext cx="12238115" cy="28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3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The third example is the most interesting. Where have you seen the number 0.707 expressed before?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D2FA0-D519-459A-B64B-B0960358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" y="4511040"/>
            <a:ext cx="12184809" cy="368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BB64E-F0AE-46ED-A3D8-FD1ED643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" y="5193114"/>
            <a:ext cx="12206279" cy="293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292C2C-3E65-4BE1-A6C2-4A7015AA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46" y="5820848"/>
            <a:ext cx="12238115" cy="283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EF0707-9493-4703-9D4A-9F3CB79A3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048" y="2628788"/>
            <a:ext cx="6477904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36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Vectors and Trig: Who cares anyway?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85E412-FFEE-4758-A686-E1C40E7E4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336" y="1693863"/>
            <a:ext cx="7284154" cy="409733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BFE094-77D5-4D81-BC58-2C48F0AD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16" y="1693333"/>
            <a:ext cx="9156192" cy="515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72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Vectors and Trig: They are the same!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85E412-FFEE-4758-A686-E1C40E7E4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336" y="1693863"/>
            <a:ext cx="7284154" cy="409733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BFE094-77D5-4D81-BC58-2C48F0AD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16" y="1693333"/>
            <a:ext cx="9156192" cy="51503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28271E-065C-4BE7-957F-F10B2D7BB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316" y="1693333"/>
            <a:ext cx="9156192" cy="515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76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2D to 3D Trig: Rotated 45* on X </a:t>
            </a:r>
            <a:r>
              <a:rPr lang="en-CA" dirty="0" err="1"/>
              <a:t>aXis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8DC92-FB14-439E-A01D-50E3D9A8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822" y="3821463"/>
            <a:ext cx="2781235" cy="242693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D5D1D3A-1CC6-4B47-9DF0-AFF313AFE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69245" y="1581892"/>
            <a:ext cx="2781235" cy="2239571"/>
          </a:xfr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0D6BC27-13BD-43EB-A61B-C9765D177420}"/>
              </a:ext>
            </a:extLst>
          </p:cNvPr>
          <p:cNvSpPr txBox="1">
            <a:spLocks/>
          </p:cNvSpPr>
          <p:nvPr/>
        </p:nvSpPr>
        <p:spPr>
          <a:xfrm>
            <a:off x="1141413" y="1693333"/>
            <a:ext cx="9905998" cy="409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24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20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8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As you can see in the diagram, we are </a:t>
            </a:r>
            <a:br>
              <a:rPr lang="en-CA" dirty="0"/>
            </a:br>
            <a:r>
              <a:rPr lang="en-CA" dirty="0"/>
              <a:t>seeing 0.707 as the Y and Z axis are basically</a:t>
            </a:r>
            <a:br>
              <a:rPr lang="en-CA" dirty="0"/>
            </a:br>
            <a:r>
              <a:rPr lang="en-CA" dirty="0"/>
              <a:t>at a 45* angle to the world axis. </a:t>
            </a:r>
          </a:p>
          <a:p>
            <a:r>
              <a:rPr lang="en-CA" dirty="0"/>
              <a:t>This is to say, everything we learned about</a:t>
            </a:r>
            <a:br>
              <a:rPr lang="en-CA" dirty="0"/>
            </a:br>
            <a:r>
              <a:rPr lang="en-CA" dirty="0"/>
              <a:t>Sine and Cosine holds up in 3 dimensions!</a:t>
            </a:r>
          </a:p>
          <a:p>
            <a:r>
              <a:rPr lang="en-CA" dirty="0"/>
              <a:t>We just have to be careful about which</a:t>
            </a:r>
            <a:br>
              <a:rPr lang="en-CA" dirty="0"/>
            </a:br>
            <a:r>
              <a:rPr lang="en-CA" dirty="0"/>
              <a:t>axis we are referencing as the base. </a:t>
            </a:r>
          </a:p>
          <a:p>
            <a:pPr marL="0" indent="0">
              <a:buFont typeface="Arial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381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Look at our data again for our object rotated 45* on X.</a:t>
            </a:r>
          </a:p>
          <a:p>
            <a:r>
              <a:rPr lang="en-CA" dirty="0"/>
              <a:t>The X Vector red (X = 1.0, y = 0, z = 0)</a:t>
            </a:r>
          </a:p>
          <a:p>
            <a:r>
              <a:rPr lang="en-CA" dirty="0"/>
              <a:t>The Y Vector is green (X = 0, Y = 0.707, Z = -0.707)</a:t>
            </a:r>
          </a:p>
          <a:p>
            <a:r>
              <a:rPr lang="en-CA" dirty="0"/>
              <a:t>The Z Vector is blue (X = 0, Y = 0.707, Z = 0.707)</a:t>
            </a:r>
          </a:p>
          <a:p>
            <a:r>
              <a:rPr lang="en-CA" dirty="0"/>
              <a:t>So what we have done is convert our Rotation orientation into </a:t>
            </a:r>
            <a:br>
              <a:rPr lang="en-CA" dirty="0"/>
            </a:br>
            <a:r>
              <a:rPr lang="en-CA" dirty="0"/>
              <a:t>its three component unit vectors.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292C2C-3E65-4BE1-A6C2-4A7015AA0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46" y="5820848"/>
            <a:ext cx="12238115" cy="283619"/>
          </a:xfrm>
          <a:prstGeom prst="rect">
            <a:avLst/>
          </a:prstGeom>
        </p:spPr>
      </p:pic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BB9E2C47-8E3A-4174-BD26-4F5D34DC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567" y="1586929"/>
            <a:ext cx="2037873" cy="16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17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Note: These do exactly the same thing!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D0EBC2-1331-4E06-A279-4DD98C3F6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955" y="1693333"/>
            <a:ext cx="10971717" cy="497397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B98597-F07F-42FA-9DBC-5E6640226797}"/>
                  </a:ext>
                </a:extLst>
              </p14:cNvPr>
              <p14:cNvContentPartPr/>
              <p14:nvPr/>
            </p14:nvContentPartPr>
            <p14:xfrm>
              <a:off x="5266536" y="256000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B98597-F07F-42FA-9DBC-5E66402267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7896" y="25510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21E0F39-5F4B-4EB1-889D-28644F66C0C2}"/>
                  </a:ext>
                </a:extLst>
              </p14:cNvPr>
              <p14:cNvContentPartPr/>
              <p14:nvPr/>
            </p14:nvContentPartPr>
            <p14:xfrm>
              <a:off x="5364096" y="268204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21E0F39-5F4B-4EB1-889D-28644F66C0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5456" y="267304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70F513-EE0E-4EAB-800F-D10C08510C9B}"/>
                  </a:ext>
                </a:extLst>
              </p14:cNvPr>
              <p14:cNvContentPartPr/>
              <p14:nvPr/>
            </p14:nvContentPartPr>
            <p14:xfrm>
              <a:off x="12020856" y="642460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70F513-EE0E-4EAB-800F-D10C08510C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12216" y="64159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E9A798C-C518-48FC-AD1D-93026C9AF145}"/>
                  </a:ext>
                </a:extLst>
              </p14:cNvPr>
              <p14:cNvContentPartPr/>
              <p14:nvPr/>
            </p14:nvContentPartPr>
            <p14:xfrm>
              <a:off x="11386896" y="658300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E9A798C-C518-48FC-AD1D-93026C9AF1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78256" y="65743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D552CB2-6A94-4780-A2F6-FAAB660057F5}"/>
                  </a:ext>
                </a:extLst>
              </p14:cNvPr>
              <p14:cNvContentPartPr/>
              <p14:nvPr/>
            </p14:nvContentPartPr>
            <p14:xfrm>
              <a:off x="3852456" y="362056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D552CB2-6A94-4780-A2F6-FAAB660057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3456" y="36119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CC9F957-CDD3-41C3-8EB2-8876E1A0C76D}"/>
                  </a:ext>
                </a:extLst>
              </p14:cNvPr>
              <p14:cNvContentPartPr/>
              <p14:nvPr/>
            </p14:nvContentPartPr>
            <p14:xfrm>
              <a:off x="3047856" y="345028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CC9F957-CDD3-41C3-8EB2-8876E1A0C7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8856" y="344128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795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The X Axis from the Break is the same as the</a:t>
            </a:r>
            <a:br>
              <a:rPr lang="en-CA" dirty="0"/>
            </a:br>
            <a:r>
              <a:rPr lang="en-CA" dirty="0"/>
              <a:t> Forward Vector</a:t>
            </a:r>
          </a:p>
          <a:p>
            <a:r>
              <a:rPr lang="en-CA" dirty="0"/>
              <a:t>The Y is the same as the Right Vector</a:t>
            </a:r>
          </a:p>
          <a:p>
            <a:r>
              <a:rPr lang="en-CA" dirty="0"/>
              <a:t>The Z Axis is the same as the Up Vector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52B29-8207-4373-A781-AC83D9627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274" y="1693333"/>
            <a:ext cx="3716252" cy="47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31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Vector Axis of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 lnSpcReduction="10000"/>
          </a:bodyPr>
          <a:lstStyle/>
          <a:p>
            <a:r>
              <a:rPr lang="en-CA" dirty="0"/>
              <a:t>It is important to understand the different ways a rotation can be stored as you will sometimes need to use each. </a:t>
            </a:r>
          </a:p>
          <a:p>
            <a:r>
              <a:rPr lang="en-CA" dirty="0"/>
              <a:t>For example, when you want to rotate a Vector around a specified axis, you can use the </a:t>
            </a:r>
            <a:r>
              <a:rPr lang="en-CA" b="1" dirty="0" err="1"/>
              <a:t>RotateVectorAroundAxis</a:t>
            </a:r>
            <a:r>
              <a:rPr lang="en-CA" dirty="0"/>
              <a:t> node, which specifies both the vector to</a:t>
            </a:r>
            <a:br>
              <a:rPr lang="en-CA" dirty="0"/>
            </a:br>
            <a:r>
              <a:rPr lang="en-CA" dirty="0"/>
              <a:t>rotate, as well as the axis to rotate it</a:t>
            </a:r>
            <a:br>
              <a:rPr lang="en-CA" dirty="0"/>
            </a:br>
            <a:r>
              <a:rPr lang="en-CA" dirty="0"/>
              <a:t>around. </a:t>
            </a:r>
          </a:p>
          <a:p>
            <a:r>
              <a:rPr lang="en-CA" dirty="0"/>
              <a:t>HOWEVER, it requires the axis in the </a:t>
            </a:r>
            <a:br>
              <a:rPr lang="en-CA" dirty="0"/>
            </a:br>
            <a:r>
              <a:rPr lang="en-CA" dirty="0"/>
              <a:t>form of a vector, so you will need to </a:t>
            </a:r>
            <a:br>
              <a:rPr lang="en-CA" dirty="0"/>
            </a:br>
            <a:r>
              <a:rPr lang="en-CA" dirty="0"/>
              <a:t>be able to understand what Unreal</a:t>
            </a:r>
            <a:br>
              <a:rPr lang="en-CA" dirty="0"/>
            </a:br>
            <a:r>
              <a:rPr lang="en-CA" dirty="0"/>
              <a:t>is asking for to be able to use this node. 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2E6FC-7010-44D2-BF63-28ACC9E51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16" y="3742266"/>
            <a:ext cx="3724795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21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Rotation Notation: Quaternions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/>
          </a:bodyPr>
          <a:lstStyle/>
          <a:p>
            <a:r>
              <a:rPr lang="en-CA" dirty="0"/>
              <a:t>While we have talked a lot about the Rotation object type, you should be aware that internally the data is stored as a Quaternion. </a:t>
            </a:r>
          </a:p>
          <a:p>
            <a:r>
              <a:rPr lang="en-CA" dirty="0"/>
              <a:t>Quaternions are 4 dimensional data types that you don’t normally work with directly or worry about. They are used because they avoid several problems that occur when trying to rotate 3 dimensional Euler angles.</a:t>
            </a:r>
          </a:p>
          <a:p>
            <a:r>
              <a:rPr lang="en-CA" dirty="0"/>
              <a:t>For now, I am just going to hand wave it away, but we may touch on it later. (If you are interested in researching it yourself, we are trying to avoid “Gimbal Lock”)</a:t>
            </a:r>
          </a:p>
        </p:txBody>
      </p:sp>
    </p:spTree>
    <p:extLst>
      <p:ext uri="{BB962C8B-B14F-4D97-AF65-F5344CB8AC3E}">
        <p14:creationId xmlns:p14="http://schemas.microsoft.com/office/powerpoint/2010/main" val="750329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E795-22BC-4D1C-9C96-1816112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83733"/>
          </a:xfrm>
        </p:spPr>
        <p:txBody>
          <a:bodyPr/>
          <a:lstStyle/>
          <a:p>
            <a:r>
              <a:rPr lang="en-CA" dirty="0"/>
              <a:t>TODO: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775-9D15-4216-A6B1-ADD60D9C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3333"/>
            <a:ext cx="9905998" cy="4097867"/>
          </a:xfrm>
        </p:spPr>
        <p:txBody>
          <a:bodyPr anchor="t">
            <a:normAutofit lnSpcReduction="10000"/>
          </a:bodyPr>
          <a:lstStyle/>
          <a:p>
            <a:r>
              <a:rPr lang="en-CA" dirty="0"/>
              <a:t>In-Class challenges:</a:t>
            </a:r>
          </a:p>
          <a:p>
            <a:r>
              <a:rPr lang="en-CA" dirty="0"/>
              <a:t>Rotate your Pawn around a given axis (such as the Z axis) when input is applied. </a:t>
            </a:r>
          </a:p>
          <a:p>
            <a:r>
              <a:rPr lang="en-CA" dirty="0"/>
              <a:t>Rotate your pawn art component to face a given target (will require the vector math from last week as well). </a:t>
            </a:r>
          </a:p>
          <a:p>
            <a:pPr lvl="1"/>
            <a:r>
              <a:rPr lang="en-CA" dirty="0"/>
              <a:t>Hint: if you don’t want to spin wildly you will have to control the axis. </a:t>
            </a:r>
          </a:p>
          <a:p>
            <a:r>
              <a:rPr lang="en-CA" dirty="0"/>
              <a:t>Rotate your pawn in 45* increments when you add input.</a:t>
            </a:r>
          </a:p>
          <a:p>
            <a:pPr lvl="1"/>
            <a:r>
              <a:rPr lang="en-CA" dirty="0"/>
              <a:t>Hard Mode: Rotate towards a target at a fixed speed. </a:t>
            </a:r>
          </a:p>
          <a:p>
            <a:pPr lvl="1"/>
            <a:r>
              <a:rPr lang="en-CA" dirty="0"/>
              <a:t>Hard Mode 2: Rotate towards a target, easing in and out of the movement. </a:t>
            </a:r>
          </a:p>
        </p:txBody>
      </p:sp>
    </p:spTree>
    <p:extLst>
      <p:ext uri="{BB962C8B-B14F-4D97-AF65-F5344CB8AC3E}">
        <p14:creationId xmlns:p14="http://schemas.microsoft.com/office/powerpoint/2010/main" val="2049821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_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ppt/theme/theme2.xml><?xml version="1.0" encoding="utf-8"?>
<a:theme xmlns:a="http://schemas.openxmlformats.org/drawingml/2006/main" name="2_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ppt/theme/theme3.xml><?xml version="1.0" encoding="utf-8"?>
<a:theme xmlns:a="http://schemas.openxmlformats.org/drawingml/2006/main" name="1_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5860</TotalTime>
  <Words>1324</Words>
  <Application>Microsoft Office PowerPoint</Application>
  <PresentationFormat>Widescreen</PresentationFormat>
  <Paragraphs>92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3_Mesh</vt:lpstr>
      <vt:lpstr>2_Mesh</vt:lpstr>
      <vt:lpstr>1_Mesh</vt:lpstr>
      <vt:lpstr>Applied Math 3  Week 4 Rotation “Fun”-Damentals I*</vt:lpstr>
      <vt:lpstr>Add a couple more examples here. </vt:lpstr>
      <vt:lpstr>Unreal Rotators Definition</vt:lpstr>
      <vt:lpstr>Unreal Rotators Definition</vt:lpstr>
      <vt:lpstr>Rotation Notation: Euler Angles</vt:lpstr>
      <vt:lpstr>Rotation Notation: Euler</vt:lpstr>
      <vt:lpstr>Rotation Notation</vt:lpstr>
      <vt:lpstr>Rotation Notation</vt:lpstr>
      <vt:lpstr>Rotation Notation: Vector Axis of Rotation</vt:lpstr>
      <vt:lpstr>Rotation Notation: Vector Axis of Rotation</vt:lpstr>
      <vt:lpstr>Rotation Notation: Vector Axis of Rotation</vt:lpstr>
      <vt:lpstr>Rotation Notation: Vector Axis of Rotation</vt:lpstr>
      <vt:lpstr>Rotation Notation: Vector Axis of Rotation</vt:lpstr>
      <vt:lpstr>Rotation Notation: Vector Axis of Rotation</vt:lpstr>
      <vt:lpstr>Rotation Notation: Vector Axis of Rotation</vt:lpstr>
      <vt:lpstr>Vectors and Trig: Who cares anyway?</vt:lpstr>
      <vt:lpstr>Vectors and Trig: They are the same!</vt:lpstr>
      <vt:lpstr>2D to 3D Trig: Rotated 45* on X aXis</vt:lpstr>
      <vt:lpstr>Rotation Notation: Vector Axis of Rotation</vt:lpstr>
      <vt:lpstr>Note: These do exactly the same thing!</vt:lpstr>
      <vt:lpstr>Rotation Notation: Vector Axis of Rotation</vt:lpstr>
      <vt:lpstr>Rotation Notation: Vector Axis of Rotation</vt:lpstr>
      <vt:lpstr>Rotation Notation: Quaternions</vt:lpstr>
      <vt:lpstr>TODO: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Dylan Fries</dc:creator>
  <cp:lastModifiedBy>Dylan Fries</cp:lastModifiedBy>
  <cp:revision>26</cp:revision>
  <dcterms:created xsi:type="dcterms:W3CDTF">2021-12-21T01:02:59Z</dcterms:created>
  <dcterms:modified xsi:type="dcterms:W3CDTF">2023-07-10T21:33:32Z</dcterms:modified>
</cp:coreProperties>
</file>